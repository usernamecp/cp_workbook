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latsi" charset="1" panose="00000500000000000000"/>
      <p:regular r:id="rId32"/>
    </p:embeddedFont>
    <p:embeddedFont>
      <p:font typeface="Open Sans Bold" charset="1" panose="020B0806030504020204"/>
      <p:regular r:id="rId33"/>
    </p:embeddedFont>
    <p:embeddedFont>
      <p:font typeface="DM Sans" charset="1" panose="00000000000000000000"/>
      <p:regular r:id="rId34"/>
    </p:embeddedFont>
    <p:embeddedFont>
      <p:font typeface="DM Sans Bold" charset="1" panose="00000000000000000000"/>
      <p:regular r:id="rId35"/>
    </p:embeddedFont>
    <p:embeddedFont>
      <p:font typeface="Abhaya Libre" charset="1" panose="02000503000000000000"/>
      <p:regular r:id="rId36"/>
    </p:embeddedFont>
    <p:embeddedFont>
      <p:font typeface="Abhaya Libre Bold" charset="1" panose="02000803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6030479" y="3791364"/>
            <a:ext cx="9444123" cy="380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0"/>
              </a:lnSpc>
            </a:pPr>
            <a:r>
              <a:rPr lang="en-US" sz="15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MICROSOFT FABRIC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45842" y="248215"/>
            <a:ext cx="2813398" cy="2813398"/>
          </a:xfrm>
          <a:custGeom>
            <a:avLst/>
            <a:gdLst/>
            <a:ahLst/>
            <a:cxnLst/>
            <a:rect r="r" b="b" t="t" l="l"/>
            <a:pathLst>
              <a:path h="2813398" w="2813398">
                <a:moveTo>
                  <a:pt x="0" y="0"/>
                </a:moveTo>
                <a:lnTo>
                  <a:pt x="2813398" y="0"/>
                </a:lnTo>
                <a:lnTo>
                  <a:pt x="2813398" y="2813398"/>
                </a:lnTo>
                <a:lnTo>
                  <a:pt x="0" y="281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67640" y="8725001"/>
            <a:ext cx="6882108" cy="53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VISIONBOARD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365289"/>
            <a:ext cx="16017833" cy="56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024" indent="-381512" lvl="1">
              <a:lnSpc>
                <a:spcPts val="4947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End-to-End Analytics: Microsoft Fabric unifies data movement, processing, ingestion, transformation, real-time event routing, and reporting.</a:t>
            </a:r>
          </a:p>
          <a:p>
            <a:pPr algn="l" marL="763024" indent="-381512" lvl="1">
              <a:lnSpc>
                <a:spcPts val="4947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Integrated Services: Includes Data Engineering, Data Factory, Data Science, Real-Time Intelligence, Data Warehouse, and Databases.</a:t>
            </a:r>
          </a:p>
          <a:p>
            <a:pPr algn="l" marL="763024" indent="-381512" lvl="1">
              <a:lnSpc>
                <a:spcPts val="4947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Seamless &amp; AI-Powered: Provides a user-friendly SaaS experience with embedded AI, reducing manual integration.</a:t>
            </a:r>
          </a:p>
          <a:p>
            <a:pPr algn="l" marL="763024" indent="-381512" lvl="1">
              <a:lnSpc>
                <a:spcPts val="4947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Centralized Storage: Uses OneLake to unify and manage data efficiently for better insights.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931" y="1987187"/>
            <a:ext cx="11556504" cy="107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MICROSOFT FABRIC?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37582"/>
              <a:ext cx="2083482" cy="124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9653" y="1620622"/>
            <a:ext cx="9449204" cy="107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b="true" sz="6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CAPABILITIES OF FABRIC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1195" y="2679784"/>
            <a:ext cx="14737960" cy="70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6789" indent="-433395" lvl="1">
              <a:lnSpc>
                <a:spcPts val="5620"/>
              </a:lnSpc>
              <a:buFont typeface="Arial"/>
              <a:buChar char="•"/>
            </a:pPr>
            <a:r>
              <a:rPr lang="en-US" sz="40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Role-Specific Workloads: Tailored tools for different organizational roles.</a:t>
            </a:r>
          </a:p>
          <a:p>
            <a:pPr algn="l" marL="866789" indent="-433395" lvl="1">
              <a:lnSpc>
                <a:spcPts val="5620"/>
              </a:lnSpc>
              <a:buFont typeface="Arial"/>
              <a:buChar char="•"/>
            </a:pPr>
            <a:r>
              <a:rPr lang="en-US" sz="40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OneLake: Unified data lake for easy management and access.</a:t>
            </a:r>
          </a:p>
          <a:p>
            <a:pPr algn="l" marL="866789" indent="-433395" lvl="1">
              <a:lnSpc>
                <a:spcPts val="5620"/>
              </a:lnSpc>
              <a:buFont typeface="Arial"/>
              <a:buChar char="•"/>
            </a:pPr>
            <a:r>
              <a:rPr lang="en-US" sz="40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&amp; Automation: Copilot support and Azure AI Foundry for intelligent insights.</a:t>
            </a:r>
          </a:p>
          <a:p>
            <a:pPr algn="l" marL="866789" indent="-433395" lvl="1">
              <a:lnSpc>
                <a:spcPts val="5620"/>
              </a:lnSpc>
              <a:buFont typeface="Arial"/>
              <a:buChar char="•"/>
            </a:pPr>
            <a:r>
              <a:rPr lang="en-US" sz="40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Seamless Integration: Works with Microsoft 365 for enhanced collaboration.</a:t>
            </a:r>
          </a:p>
          <a:p>
            <a:pPr algn="l" marL="866789" indent="-433395" lvl="1">
              <a:lnSpc>
                <a:spcPts val="5620"/>
              </a:lnSpc>
              <a:buFont typeface="Arial"/>
              <a:buChar char="•"/>
            </a:pPr>
            <a:r>
              <a:rPr lang="en-US" sz="40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Unified Data Management: Centralized governance, sharing, and access.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37582"/>
              <a:ext cx="2083482" cy="124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32622" y="1744447"/>
            <a:ext cx="13281654" cy="7387920"/>
          </a:xfrm>
          <a:custGeom>
            <a:avLst/>
            <a:gdLst/>
            <a:ahLst/>
            <a:cxnLst/>
            <a:rect r="r" b="b" t="t" l="l"/>
            <a:pathLst>
              <a:path h="7387920" w="13281654">
                <a:moveTo>
                  <a:pt x="0" y="0"/>
                </a:moveTo>
                <a:lnTo>
                  <a:pt x="13281654" y="0"/>
                </a:lnTo>
                <a:lnTo>
                  <a:pt x="13281654" y="7387920"/>
                </a:lnTo>
                <a:lnTo>
                  <a:pt x="0" y="7387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37582"/>
              <a:ext cx="2083482" cy="124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919633"/>
            <a:ext cx="15941633" cy="772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Power BI: Connect, visualize, and share data easily for better decision-making.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Databases: Developer-friendly transactional databases with OneLake mirroring for seamless data integration.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Factory: Modern data integration with 200+ connectors for cloud and on-premises sources.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Industry Solutions: Tailored data solutions for specific industry needs.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Intelligence: End-to-end streaming data solution with real-time analytics and AI integration.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Engineering: Spark-based platform for managing, processing, and analyzing large datasets.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Science: Build, deploy, and operationalize machine learning models with Azure ML integration.</a:t>
            </a:r>
          </a:p>
          <a:p>
            <a:pPr algn="l" marL="678696" indent="-339348" lvl="1">
              <a:lnSpc>
                <a:spcPts val="4400"/>
              </a:lnSpc>
              <a:buFont typeface="Arial"/>
              <a:buChar char="•"/>
            </a:pPr>
            <a:r>
              <a:rPr lang="en-US" sz="3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Warehouse: High-performance SQL data warehousing with scalable compute and Delta Lake storage.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45758" y="790892"/>
            <a:ext cx="12016922" cy="85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COMPONENTS OF MICROSOFT FABRIC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37582"/>
              <a:ext cx="2083482" cy="124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4230" y="769597"/>
            <a:ext cx="11654925" cy="90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MICROSOFT FABRIC TERMINOLOGY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3099898"/>
            <a:ext cx="16391739" cy="615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321" indent="-422160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Capacity: Dedicated resources for performing tasks, offered via Fabric SKU and Trials.</a:t>
            </a:r>
          </a:p>
          <a:p>
            <a:pPr algn="l" marL="844321" indent="-422160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Experience: Specific functionality sets like Data Warehouse, Data Engineering, and Power BI.</a:t>
            </a:r>
          </a:p>
          <a:p>
            <a:pPr algn="l" marL="844321" indent="-422160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Item: Components within an experience, such as lakehouse, notebooks, or Spark jobs.</a:t>
            </a:r>
          </a:p>
          <a:p>
            <a:pPr algn="l" marL="844321" indent="-422160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Tenant: A Fabric instance for an organization, linked to Microsoft Entra ID.</a:t>
            </a:r>
          </a:p>
          <a:p>
            <a:pPr algn="l" marL="844321" indent="-422160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Workspace: A collaborative environment for managing and executing items using capacity.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5085" y="2433068"/>
            <a:ext cx="3534465" cy="68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General terms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78126" y="598805"/>
            <a:ext cx="3466526" cy="92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CAPACITY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67782"/>
            <a:ext cx="16230600" cy="72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Microsoft Fabric capacity exists within a tenant, serving as a dedicated pool of resources for that organization. The capacity size determines the available computation power.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With your capacity, you can: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Access all licensed Microsoft Fabric features.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and connect Fabric items.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Save and share items in workspaces with appropriately licensed users.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Capacities are categorized into Stock Keeping Units (SKUs), each offering specific Fabric resources. Organizations can have multiple capacities as needed.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capacity and SKUs table outlines available Microsoft Fabric SKUs, measured in Capacity Units (CU). For Power BI users, the table includes Power BI Premium P SKUs and v-cores, which support Microsoft Fabric. However, A and EM SKUs only support Power BI items.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61035" y="1673225"/>
            <a:ext cx="13765929" cy="7657298"/>
          </a:xfrm>
          <a:custGeom>
            <a:avLst/>
            <a:gdLst/>
            <a:ahLst/>
            <a:cxnLst/>
            <a:rect r="r" b="b" t="t" l="l"/>
            <a:pathLst>
              <a:path h="7657298" w="13765929">
                <a:moveTo>
                  <a:pt x="0" y="0"/>
                </a:moveTo>
                <a:lnTo>
                  <a:pt x="13765930" y="0"/>
                </a:lnTo>
                <a:lnTo>
                  <a:pt x="13765930" y="7657299"/>
                </a:lnTo>
                <a:lnTo>
                  <a:pt x="0" y="7657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42048" y="836613"/>
            <a:ext cx="10024467" cy="8495308"/>
          </a:xfrm>
          <a:custGeom>
            <a:avLst/>
            <a:gdLst/>
            <a:ahLst/>
            <a:cxnLst/>
            <a:rect r="r" b="b" t="t" l="l"/>
            <a:pathLst>
              <a:path h="8495308" w="10024467">
                <a:moveTo>
                  <a:pt x="0" y="0"/>
                </a:moveTo>
                <a:lnTo>
                  <a:pt x="10024468" y="0"/>
                </a:lnTo>
                <a:lnTo>
                  <a:pt x="10024468" y="8495308"/>
                </a:lnTo>
                <a:lnTo>
                  <a:pt x="0" y="8495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0" r="0" b="-74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7628" y="621028"/>
            <a:ext cx="10773195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FABRIC DATA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2143901"/>
            <a:ext cx="16229272" cy="65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Lakehouse: A database-like collection of files, folders, and tables over a data lake, supporting big data processing with ACID transactions using Delta tables.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Notebook: An interactive multi-language tool for coding, data processing, visualization, and machine learning, with orchestration support.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Spark Application: A user-written program (Scala, Python, SQL, Java, .NET) that runs parallel Spark jobs for faster data processing.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Spark Job &amp; Definition: A job runs tasks in parallel within an application; a job definition sets parameters for batch or streaming jobs.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V-Order: A write optimization for Parquet files, improving read speed, cost efficiency,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27293" y="712788"/>
            <a:ext cx="6433415" cy="114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b="true" sz="66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FACTORY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2419910"/>
            <a:ext cx="15610433" cy="593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333" indent="-455166" lvl="1">
              <a:lnSpc>
                <a:spcPts val="5903"/>
              </a:lnSpc>
              <a:buFont typeface="Arial"/>
              <a:buChar char="•"/>
            </a:pPr>
            <a:r>
              <a:rPr lang="en-US" sz="421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Connector: Enables connections to various data stores for transformation.</a:t>
            </a:r>
          </a:p>
          <a:p>
            <a:pPr algn="l" marL="910333" indent="-455166" lvl="1">
              <a:lnSpc>
                <a:spcPts val="5903"/>
              </a:lnSpc>
              <a:buFont typeface="Arial"/>
              <a:buChar char="•"/>
            </a:pPr>
            <a:r>
              <a:rPr lang="en-US" sz="421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 Pipeline: Orchestrates data movement and transformation in Data Factory.</a:t>
            </a:r>
          </a:p>
          <a:p>
            <a:pPr algn="l" marL="910333" indent="-455166" lvl="1">
              <a:lnSpc>
                <a:spcPts val="5903"/>
              </a:lnSpc>
              <a:buFont typeface="Arial"/>
              <a:buChar char="•"/>
            </a:pPr>
            <a:r>
              <a:rPr lang="en-US" sz="421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Dataflow Gen2: A low-code tool for data ingestion and transformation, offering advanced features over Gen1.</a:t>
            </a:r>
          </a:p>
          <a:p>
            <a:pPr algn="l" marL="910333" indent="-455166" lvl="1">
              <a:lnSpc>
                <a:spcPts val="5903"/>
              </a:lnSpc>
              <a:buFont typeface="Arial"/>
              <a:buChar char="•"/>
            </a:pPr>
            <a:r>
              <a:rPr lang="en-US" sz="421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Trigger: Automates pipeline execution based on schedules or data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57278" y="654005"/>
            <a:ext cx="8304397" cy="10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FABRIC DATA SCIENCE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6141" y="2665210"/>
            <a:ext cx="14443015" cy="592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977" indent="-455489" lvl="1">
              <a:lnSpc>
                <a:spcPts val="5907"/>
              </a:lnSpc>
              <a:buFont typeface="Arial"/>
              <a:buChar char="•"/>
            </a:pPr>
            <a:r>
              <a:rPr lang="en-US" sz="42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Wrangler: A notebook-based tool for data exploration, cleansing, and generating reusable scripts.</a:t>
            </a:r>
          </a:p>
          <a:p>
            <a:pPr algn="l" marL="910977" indent="-455489" lvl="1">
              <a:lnSpc>
                <a:spcPts val="5907"/>
              </a:lnSpc>
              <a:buFont typeface="Arial"/>
              <a:buChar char="•"/>
            </a:pPr>
            <a:r>
              <a:rPr lang="en-US" sz="42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Experiment: The main unit for organizing and controlling machine learning runs.</a:t>
            </a:r>
          </a:p>
          <a:p>
            <a:pPr algn="l" marL="910977" indent="-455489" lvl="1">
              <a:lnSpc>
                <a:spcPts val="5907"/>
              </a:lnSpc>
              <a:buFont typeface="Arial"/>
              <a:buChar char="•"/>
            </a:pPr>
            <a:r>
              <a:rPr lang="en-US" sz="42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Model: A trained file that recognizes patterns using algorithms and data.</a:t>
            </a:r>
          </a:p>
          <a:p>
            <a:pPr algn="l" marL="910977" indent="-455489" lvl="1">
              <a:lnSpc>
                <a:spcPts val="5907"/>
              </a:lnSpc>
              <a:buFont typeface="Arial"/>
              <a:buChar char="•"/>
            </a:pPr>
            <a:r>
              <a:rPr lang="en-US" sz="42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Run: A single execution of model code, tracked within an experiment.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7628" y="725227"/>
            <a:ext cx="9868580" cy="10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FABRIC DATA WAREHOUSE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2542175"/>
            <a:ext cx="15610433" cy="466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46" indent="-474973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SQL Analytics Endpoint: Each Lakehouse includes a SQL endpoint that enables users to query Delta tables using T-SQL over TDS.</a:t>
            </a:r>
          </a:p>
          <a:p>
            <a:pPr algn="l" marL="949946" indent="-474973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Fabric Data Warehouse: A traditional data warehouse with full transactional T-SQL capabilities for enterprise-level data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13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73206" y="654005"/>
            <a:ext cx="9479289" cy="10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85172"/>
            <a:ext cx="14830455" cy="560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Activator: A no-code/low-code tool for creating alerts, triggers, and actions on data streams.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Eventhouse: A solution for real-time data ingestion, processing, and analysis within a workspace.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Eventstream: A no-code tool for capturing, transforming, and routing real-time events.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KQL Database: Stores data for executing KQL queries within an Eventhouse.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KQL Queryset: Runs queries, views results, and allows saving or sharing queries for future use.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59730" y="447686"/>
            <a:ext cx="5754652" cy="10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2315366"/>
            <a:ext cx="15610433" cy="585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3117" indent="-396559" lvl="1">
              <a:lnSpc>
                <a:spcPts val="5142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Centralized Streaming Management – Captures and processes real-time events from multiple sources in one place.</a:t>
            </a:r>
          </a:p>
          <a:p>
            <a:pPr algn="l" marL="793117" indent="-396559" lvl="1">
              <a:lnSpc>
                <a:spcPts val="5142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No-Code &amp; Low-Code Experience – Simplifies stream processing with an intuitive interface.</a:t>
            </a:r>
          </a:p>
          <a:p>
            <a:pPr algn="l" marL="793117" indent="-396559" lvl="1">
              <a:lnSpc>
                <a:spcPts val="5142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Integration with Fabric Services – Works with Eventstreams, Eventhouse, KQL databases, and Activator for efficient data handling.</a:t>
            </a:r>
          </a:p>
          <a:p>
            <a:pPr algn="l" marL="793117" indent="-396559" lvl="1">
              <a:lnSpc>
                <a:spcPts val="5142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Insights &amp; Actions – Enables businesses to monitor data flows and trigger actions based on live data.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15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74783" y="904875"/>
            <a:ext cx="3518191" cy="104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5"/>
              </a:lnSpc>
              <a:spcBef>
                <a:spcPct val="0"/>
              </a:spcBef>
            </a:pPr>
            <a:r>
              <a:rPr lang="en-US" b="true" sz="60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ONELAKE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28" y="2837427"/>
            <a:ext cx="15879235" cy="515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36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Shortcuts in OneLake are objects that link to other storage locations, either inside or outside OneLake. They appear as folders and function like symbolic links.</a:t>
            </a:r>
          </a:p>
          <a:p>
            <a:pPr algn="l" marL="793449" indent="-396724" lvl="1">
              <a:lnSpc>
                <a:spcPts val="5145"/>
              </a:lnSpc>
              <a:buFont typeface="Arial"/>
              <a:buChar char="•"/>
            </a:pPr>
            <a:r>
              <a:rPr lang="en-US" sz="36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Shortcut Path – The location where the shortcut appears.</a:t>
            </a:r>
          </a:p>
          <a:p>
            <a:pPr algn="l" marL="793449" indent="-396724" lvl="1">
              <a:lnSpc>
                <a:spcPts val="5145"/>
              </a:lnSpc>
              <a:buFont typeface="Arial"/>
              <a:buChar char="•"/>
            </a:pPr>
            <a:r>
              <a:rPr lang="en-US" sz="36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Target Path – The storage location the shortcut points to.</a:t>
            </a:r>
          </a:p>
          <a:p>
            <a:pPr algn="l" marL="793449" indent="-396724" lvl="1">
              <a:lnSpc>
                <a:spcPts val="5145"/>
              </a:lnSpc>
              <a:buFont typeface="Arial"/>
              <a:buChar char="•"/>
            </a:pPr>
            <a:r>
              <a:rPr lang="en-US" sz="36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Independent Object – Deleting a shortcut doesn’t affect the target.</a:t>
            </a:r>
          </a:p>
          <a:p>
            <a:pPr algn="l" marL="793449" indent="-396724" lvl="1">
              <a:lnSpc>
                <a:spcPts val="5145"/>
              </a:lnSpc>
              <a:buFont typeface="Arial"/>
              <a:buChar char="•"/>
            </a:pPr>
            <a:r>
              <a:rPr lang="en-US" sz="36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Potential Breakage – Moving, renaming, or deleting the target can break the shortcut.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16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7628" y="1143975"/>
            <a:ext cx="7463624" cy="95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  <a:spcBef>
                <a:spcPct val="0"/>
              </a:spcBef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TASK FLOW?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601" y="2788722"/>
            <a:ext cx="16230699" cy="59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Fabric Task Flow is a workspace feature that visualizes the flow of work, showing how items are connected.</a:t>
            </a:r>
          </a:p>
          <a:p>
            <a:pPr algn="l">
              <a:lnSpc>
                <a:spcPts val="5285"/>
              </a:lnSpc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 Benefits:</a:t>
            </a:r>
          </a:p>
          <a:p>
            <a:pPr algn="l" marL="815045" indent="-407522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Better Navigation – Helps manage complex workspaces.</a:t>
            </a:r>
          </a:p>
          <a:p>
            <a:pPr algn="l" marL="815045" indent="-407522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Improved Collaboration – Keeps teams aligned on design and development.</a:t>
            </a:r>
          </a:p>
          <a:p>
            <a:pPr algn="l" marL="815045" indent="-407522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Standardized Workflows – Ensures consistency across tasks.</a:t>
            </a:r>
          </a:p>
          <a:p>
            <a:pPr algn="l" marL="815045" indent="-407522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Enhanced Efficiency – Simplifies workspace organization and navigation.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17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0028" y="1673225"/>
            <a:ext cx="15379488" cy="7439827"/>
          </a:xfrm>
          <a:custGeom>
            <a:avLst/>
            <a:gdLst/>
            <a:ahLst/>
            <a:cxnLst/>
            <a:rect r="r" b="b" t="t" l="l"/>
            <a:pathLst>
              <a:path h="7439827" w="15379488">
                <a:moveTo>
                  <a:pt x="0" y="0"/>
                </a:moveTo>
                <a:lnTo>
                  <a:pt x="15379489" y="0"/>
                </a:lnTo>
                <a:lnTo>
                  <a:pt x="15379489" y="7439828"/>
                </a:lnTo>
                <a:lnTo>
                  <a:pt x="0" y="743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0028" y="2147941"/>
            <a:ext cx="15246001" cy="682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b="true" sz="38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Task Flow</a:t>
            </a:r>
          </a:p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task flow is a collection of connected tasks representing relationships in a process to complete an end-to-end data solution. Each workspace has one task flow, which can be built from scratch or customized from predefined templates.</a:t>
            </a:r>
          </a:p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b="true" sz="38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Components:</a:t>
            </a:r>
          </a:p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b="true" sz="38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Task</a:t>
            </a:r>
            <a:r>
              <a:rPr lang="en-US" sz="3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A unit of process within a task flow, guiding item selection and navigation.</a:t>
            </a:r>
          </a:p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b="true" sz="38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Task Type</a:t>
            </a:r>
            <a:r>
              <a:rPr lang="en-US" sz="3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– Classification of tasks based on their role in the data process flow.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19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97807" y="505555"/>
            <a:ext cx="11352773" cy="9337656"/>
          </a:xfrm>
          <a:custGeom>
            <a:avLst/>
            <a:gdLst/>
            <a:ahLst/>
            <a:cxnLst/>
            <a:rect r="r" b="b" t="t" l="l"/>
            <a:pathLst>
              <a:path h="9337656" w="11352773">
                <a:moveTo>
                  <a:pt x="0" y="0"/>
                </a:moveTo>
                <a:lnTo>
                  <a:pt x="11352773" y="0"/>
                </a:lnTo>
                <a:lnTo>
                  <a:pt x="11352773" y="9337656"/>
                </a:lnTo>
                <a:lnTo>
                  <a:pt x="0" y="933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5866" y="1744447"/>
            <a:ext cx="14400285" cy="7614150"/>
          </a:xfrm>
          <a:custGeom>
            <a:avLst/>
            <a:gdLst/>
            <a:ahLst/>
            <a:cxnLst/>
            <a:rect r="r" b="b" t="t" l="l"/>
            <a:pathLst>
              <a:path h="7614150" w="14400285">
                <a:moveTo>
                  <a:pt x="0" y="0"/>
                </a:moveTo>
                <a:lnTo>
                  <a:pt x="14400284" y="0"/>
                </a:lnTo>
                <a:lnTo>
                  <a:pt x="14400284" y="7614151"/>
                </a:lnTo>
                <a:lnTo>
                  <a:pt x="0" y="7614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72493" y="381730"/>
            <a:ext cx="8743015" cy="104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5"/>
              </a:lnSpc>
              <a:spcBef>
                <a:spcPct val="0"/>
              </a:spcBef>
            </a:pPr>
            <a:r>
              <a:rPr lang="en-US" b="true" sz="60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OPEN THE WORKSPACE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91878" y="2633135"/>
            <a:ext cx="8107838" cy="491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3655" indent="-601827" lvl="1">
              <a:lnSpc>
                <a:spcPts val="7805"/>
              </a:lnSpc>
              <a:buAutoNum type="arabicPeriod" startAt="1"/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List view selector</a:t>
            </a:r>
          </a:p>
          <a:p>
            <a:pPr algn="l" marL="1203655" indent="-601827" lvl="1">
              <a:lnSpc>
                <a:spcPts val="7805"/>
              </a:lnSpc>
              <a:buAutoNum type="arabicPeriod" startAt="1"/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Task flow canvas</a:t>
            </a:r>
          </a:p>
          <a:p>
            <a:pPr algn="l" marL="1203655" indent="-601827" lvl="1">
              <a:lnSpc>
                <a:spcPts val="7805"/>
              </a:lnSpc>
              <a:buAutoNum type="arabicPeriod" startAt="1"/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Resize bar</a:t>
            </a:r>
          </a:p>
          <a:p>
            <a:pPr algn="l" marL="1203655" indent="-601827" lvl="1">
              <a:lnSpc>
                <a:spcPts val="7805"/>
              </a:lnSpc>
              <a:buAutoNum type="arabicPeriod" startAt="1"/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Show/hide task flow</a:t>
            </a:r>
          </a:p>
          <a:p>
            <a:pPr algn="l" marL="1203655" indent="-601827" lvl="1">
              <a:lnSpc>
                <a:spcPts val="7805"/>
              </a:lnSpc>
              <a:buAutoNum type="arabicPeriod" startAt="1"/>
            </a:pPr>
            <a:r>
              <a:rPr lang="en-US" b="true" sz="5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Items list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76533" y="2540057"/>
            <a:ext cx="7175594" cy="7058991"/>
          </a:xfrm>
          <a:custGeom>
            <a:avLst/>
            <a:gdLst/>
            <a:ahLst/>
            <a:cxnLst/>
            <a:rect r="r" b="b" t="t" l="l"/>
            <a:pathLst>
              <a:path h="7058991" w="7175594">
                <a:moveTo>
                  <a:pt x="0" y="0"/>
                </a:moveTo>
                <a:lnTo>
                  <a:pt x="7175594" y="0"/>
                </a:lnTo>
                <a:lnTo>
                  <a:pt x="7175594" y="7058990"/>
                </a:lnTo>
                <a:lnTo>
                  <a:pt x="0" y="7058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29470" y="381730"/>
            <a:ext cx="13329685" cy="104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5"/>
              </a:lnSpc>
              <a:spcBef>
                <a:spcPct val="0"/>
              </a:spcBef>
            </a:pPr>
            <a:r>
              <a:rPr lang="en-US" b="true" sz="60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START WITH A CUSTOM TASK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7065" y="1677772"/>
            <a:ext cx="13848033" cy="54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  <a:spcBef>
                <a:spcPct val="0"/>
              </a:spcBef>
            </a:pPr>
            <a:r>
              <a:rPr lang="en-US" b="true" sz="31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1.In the empty task flow area, select Add a task and choose a task type.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23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10550" y="2430380"/>
            <a:ext cx="8955513" cy="7052467"/>
          </a:xfrm>
          <a:custGeom>
            <a:avLst/>
            <a:gdLst/>
            <a:ahLst/>
            <a:cxnLst/>
            <a:rect r="r" b="b" t="t" l="l"/>
            <a:pathLst>
              <a:path h="7052467" w="8955513">
                <a:moveTo>
                  <a:pt x="0" y="0"/>
                </a:moveTo>
                <a:lnTo>
                  <a:pt x="8955514" y="0"/>
                </a:lnTo>
                <a:lnTo>
                  <a:pt x="8955514" y="7052467"/>
                </a:lnTo>
                <a:lnTo>
                  <a:pt x="0" y="7052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7816" y="1606550"/>
            <a:ext cx="15671602" cy="54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  <a:spcBef>
                <a:spcPct val="0"/>
              </a:spcBef>
            </a:pPr>
            <a:r>
              <a:rPr lang="en-US" b="true" sz="31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2.A task card appears on the canvas and the task details pane opens to the side.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447107"/>
              <a:ext cx="2083482" cy="12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67872" y="3338679"/>
            <a:ext cx="8221696" cy="5919621"/>
          </a:xfrm>
          <a:custGeom>
            <a:avLst/>
            <a:gdLst/>
            <a:ahLst/>
            <a:cxnLst/>
            <a:rect r="r" b="b" t="t" l="l"/>
            <a:pathLst>
              <a:path h="5919621" w="8221696">
                <a:moveTo>
                  <a:pt x="0" y="0"/>
                </a:moveTo>
                <a:lnTo>
                  <a:pt x="8221696" y="0"/>
                </a:lnTo>
                <a:lnTo>
                  <a:pt x="8221696" y="5919621"/>
                </a:lnTo>
                <a:lnTo>
                  <a:pt x="0" y="5919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2224" y="1616075"/>
            <a:ext cx="14812991" cy="136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b="true" sz="257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3. Deselect the task by clicking on a blank area of the task flow canvas. The side pane will display the task flow details with a default name (Get started with a task flow) and description. Note that the task you just created is listed under the Tasks section.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4803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DAGfpZikDig</dc:identifier>
  <dcterms:modified xsi:type="dcterms:W3CDTF">2011-08-01T06:04:30Z</dcterms:modified>
  <cp:revision>1</cp:revision>
  <dc:title>MICROSOFT FABRIC PPT</dc:title>
</cp:coreProperties>
</file>